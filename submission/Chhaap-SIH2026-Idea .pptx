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i Ranjan Kumar" userId="269663f3b694999c" providerId="LiveId" clId="{34BABC45-090F-4694-9D5D-0B1E4B5B7E4E}"/>
    <pc:docChg chg="custSel modSld">
      <pc:chgData name="Shashi Ranjan Kumar" userId="269663f3b694999c" providerId="LiveId" clId="{34BABC45-090F-4694-9D5D-0B1E4B5B7E4E}" dt="2026-09-09T16:43:04.354" v="217" actId="478"/>
      <pc:docMkLst>
        <pc:docMk/>
      </pc:docMkLst>
      <pc:sldChg chg="delSp modSp mod">
        <pc:chgData name="Shashi Ranjan Kumar" userId="269663f3b694999c" providerId="LiveId" clId="{34BABC45-090F-4694-9D5D-0B1E4B5B7E4E}" dt="2026-09-09T16:43:04.354" v="217" actId="478"/>
        <pc:sldMkLst>
          <pc:docMk/>
          <pc:sldMk cId="0" sldId="281"/>
        </pc:sldMkLst>
        <pc:spChg chg="del">
          <ac:chgData name="Shashi Ranjan Kumar" userId="269663f3b694999c" providerId="LiveId" clId="{34BABC45-090F-4694-9D5D-0B1E4B5B7E4E}" dt="2026-09-09T16:43:04.354" v="217" actId="478"/>
          <ac:spMkLst>
            <pc:docMk/>
            <pc:sldMk cId="0" sldId="281"/>
            <ac:spMk id="7" creationId="{00000000-0000-0000-0000-000000000000}"/>
          </ac:spMkLst>
        </pc:spChg>
        <pc:spChg chg="mod">
          <ac:chgData name="Shashi Ranjan Kumar" userId="269663f3b694999c" providerId="LiveId" clId="{34BABC45-090F-4694-9D5D-0B1E4B5B7E4E}" dt="2026-09-09T16:39:01.265" v="61" actId="20577"/>
          <ac:spMkLst>
            <pc:docMk/>
            <pc:sldMk cId="0" sldId="281"/>
            <ac:spMk id="10" creationId="{5DBCE864-823D-4A13-9607-5DA1F0ED5FB8}"/>
          </ac:spMkLst>
        </pc:spChg>
        <pc:spChg chg="mod">
          <ac:chgData name="Shashi Ranjan Kumar" userId="269663f3b694999c" providerId="LiveId" clId="{34BABC45-090F-4694-9D5D-0B1E4B5B7E4E}" dt="2026-09-09T16:40:00.656" v="156" actId="20577"/>
          <ac:spMkLst>
            <pc:docMk/>
            <pc:sldMk cId="0" sldId="281"/>
            <ac:spMk id="107" creationId="{00000000-0000-0000-0000-000000000000}"/>
          </ac:spMkLst>
        </pc:spChg>
      </pc:sldChg>
      <pc:sldChg chg="delSp modSp mod">
        <pc:chgData name="Shashi Ranjan Kumar" userId="269663f3b694999c" providerId="LiveId" clId="{34BABC45-090F-4694-9D5D-0B1E4B5B7E4E}" dt="2026-09-09T16:42:53.852" v="216" actId="478"/>
        <pc:sldMkLst>
          <pc:docMk/>
          <pc:sldMk cId="0" sldId="290"/>
        </pc:sldMkLst>
        <pc:spChg chg="del">
          <ac:chgData name="Shashi Ranjan Kumar" userId="269663f3b694999c" providerId="LiveId" clId="{34BABC45-090F-4694-9D5D-0B1E4B5B7E4E}" dt="2026-09-09T16:42:53.852" v="216" actId="478"/>
          <ac:spMkLst>
            <pc:docMk/>
            <pc:sldMk cId="0" sldId="290"/>
            <ac:spMk id="7" creationId="{00000000-0000-0000-0000-000000000000}"/>
          </ac:spMkLst>
        </pc:spChg>
        <pc:spChg chg="mod">
          <ac:chgData name="Shashi Ranjan Kumar" userId="269663f3b694999c" providerId="LiveId" clId="{34BABC45-090F-4694-9D5D-0B1E4B5B7E4E}" dt="2026-09-09T16:39:13.346" v="83" actId="20577"/>
          <ac:spMkLst>
            <pc:docMk/>
            <pc:sldMk cId="0" sldId="290"/>
            <ac:spMk id="11" creationId="{5DBCE864-823D-4A13-9607-5DA1F0ED5FB8}"/>
          </ac:spMkLst>
        </pc:spChg>
        <pc:spChg chg="mod">
          <ac:chgData name="Shashi Ranjan Kumar" userId="269663f3b694999c" providerId="LiveId" clId="{34BABC45-090F-4694-9D5D-0B1E4B5B7E4E}" dt="2026-09-09T16:40:09.826" v="158" actId="20577"/>
          <ac:spMkLst>
            <pc:docMk/>
            <pc:sldMk cId="0" sldId="290"/>
            <ac:spMk id="114" creationId="{00000000-0000-0000-0000-000000000000}"/>
          </ac:spMkLst>
        </pc:spChg>
      </pc:sldChg>
      <pc:sldChg chg="modSp mod">
        <pc:chgData name="Shashi Ranjan Kumar" userId="269663f3b694999c" providerId="LiveId" clId="{34BABC45-090F-4694-9D5D-0B1E4B5B7E4E}" dt="2026-09-09T16:38:40.877" v="33" actId="255"/>
        <pc:sldMkLst>
          <pc:docMk/>
          <pc:sldMk cId="0" sldId="291"/>
        </pc:sldMkLst>
        <pc:spChg chg="mod">
          <ac:chgData name="Shashi Ranjan Kumar" userId="269663f3b694999c" providerId="LiveId" clId="{34BABC45-090F-4694-9D5D-0B1E4B5B7E4E}" dt="2026-09-09T16:38:40.877" v="33" actId="255"/>
          <ac:spMkLst>
            <pc:docMk/>
            <pc:sldMk cId="0" sldId="291"/>
            <ac:spMk id="101" creationId="{00000000-0000-0000-0000-000000000000}"/>
          </ac:spMkLst>
        </pc:spChg>
      </pc:sldChg>
      <pc:sldChg chg="delSp modSp mod">
        <pc:chgData name="Shashi Ranjan Kumar" userId="269663f3b694999c" providerId="LiveId" clId="{34BABC45-090F-4694-9D5D-0B1E4B5B7E4E}" dt="2026-09-09T16:42:49.612" v="215" actId="478"/>
        <pc:sldMkLst>
          <pc:docMk/>
          <pc:sldMk cId="3753387913" sldId="293"/>
        </pc:sldMkLst>
        <pc:spChg chg="del">
          <ac:chgData name="Shashi Ranjan Kumar" userId="269663f3b694999c" providerId="LiveId" clId="{34BABC45-090F-4694-9D5D-0B1E4B5B7E4E}" dt="2026-09-09T16:42:49.612" v="215" actId="478"/>
          <ac:spMkLst>
            <pc:docMk/>
            <pc:sldMk cId="3753387913" sldId="293"/>
            <ac:spMk id="7" creationId="{00000000-0000-0000-0000-000000000000}"/>
          </ac:spMkLst>
        </pc:spChg>
        <pc:spChg chg="mod">
          <ac:chgData name="Shashi Ranjan Kumar" userId="269663f3b694999c" providerId="LiveId" clId="{34BABC45-090F-4694-9D5D-0B1E4B5B7E4E}" dt="2026-09-09T16:39:22.896" v="105" actId="20577"/>
          <ac:spMkLst>
            <pc:docMk/>
            <pc:sldMk cId="3753387913" sldId="293"/>
            <ac:spMk id="12" creationId="{5DBCE864-823D-4A13-9607-5DA1F0ED5FB8}"/>
          </ac:spMkLst>
        </pc:spChg>
        <pc:spChg chg="mod">
          <ac:chgData name="Shashi Ranjan Kumar" userId="269663f3b694999c" providerId="LiveId" clId="{34BABC45-090F-4694-9D5D-0B1E4B5B7E4E}" dt="2026-09-09T16:40:31.445" v="164" actId="20577"/>
          <ac:spMkLst>
            <pc:docMk/>
            <pc:sldMk cId="3753387913" sldId="293"/>
            <ac:spMk id="116" creationId="{00000000-0000-0000-0000-000000000000}"/>
          </ac:spMkLst>
        </pc:spChg>
        <pc:spChg chg="mod">
          <ac:chgData name="Shashi Ranjan Kumar" userId="269663f3b694999c" providerId="LiveId" clId="{34BABC45-090F-4694-9D5D-0B1E4B5B7E4E}" dt="2026-09-09T16:40:41.436" v="168" actId="20577"/>
          <ac:spMkLst>
            <pc:docMk/>
            <pc:sldMk cId="3753387913" sldId="293"/>
            <ac:spMk id="119" creationId="{00000000-0000-0000-0000-000000000000}"/>
          </ac:spMkLst>
        </pc:spChg>
      </pc:sldChg>
      <pc:sldChg chg="delSp modSp mod">
        <pc:chgData name="Shashi Ranjan Kumar" userId="269663f3b694999c" providerId="LiveId" clId="{34BABC45-090F-4694-9D5D-0B1E4B5B7E4E}" dt="2026-09-09T16:42:44.815" v="214" actId="478"/>
        <pc:sldMkLst>
          <pc:docMk/>
          <pc:sldMk cId="2997144140" sldId="294"/>
        </pc:sldMkLst>
        <pc:spChg chg="del">
          <ac:chgData name="Shashi Ranjan Kumar" userId="269663f3b694999c" providerId="LiveId" clId="{34BABC45-090F-4694-9D5D-0B1E4B5B7E4E}" dt="2026-09-09T16:42:44.815" v="214" actId="478"/>
          <ac:spMkLst>
            <pc:docMk/>
            <pc:sldMk cId="2997144140" sldId="294"/>
            <ac:spMk id="7" creationId="{00000000-0000-0000-0000-000000000000}"/>
          </ac:spMkLst>
        </pc:spChg>
        <pc:spChg chg="mod">
          <ac:chgData name="Shashi Ranjan Kumar" userId="269663f3b694999c" providerId="LiveId" clId="{34BABC45-090F-4694-9D5D-0B1E4B5B7E4E}" dt="2026-09-09T16:39:39.023" v="129" actId="20577"/>
          <ac:spMkLst>
            <pc:docMk/>
            <pc:sldMk cId="2997144140" sldId="294"/>
            <ac:spMk id="12" creationId="{5DBCE864-823D-4A13-9607-5DA1F0ED5FB8}"/>
          </ac:spMkLst>
        </pc:spChg>
      </pc:sldChg>
      <pc:sldChg chg="delSp modSp mod">
        <pc:chgData name="Shashi Ranjan Kumar" userId="269663f3b694999c" providerId="LiveId" clId="{34BABC45-090F-4694-9D5D-0B1E4B5B7E4E}" dt="2026-09-09T16:42:30.894" v="213" actId="20577"/>
        <pc:sldMkLst>
          <pc:docMk/>
          <pc:sldMk cId="3916788613" sldId="296"/>
        </pc:sldMkLst>
        <pc:spChg chg="del">
          <ac:chgData name="Shashi Ranjan Kumar" userId="269663f3b694999c" providerId="LiveId" clId="{34BABC45-090F-4694-9D5D-0B1E4B5B7E4E}" dt="2026-09-09T16:41:10.923" v="169" actId="478"/>
          <ac:spMkLst>
            <pc:docMk/>
            <pc:sldMk cId="3916788613" sldId="296"/>
            <ac:spMk id="7" creationId="{00000000-0000-0000-0000-000000000000}"/>
          </ac:spMkLst>
        </pc:spChg>
        <pc:spChg chg="mod">
          <ac:chgData name="Shashi Ranjan Kumar" userId="269663f3b694999c" providerId="LiveId" clId="{34BABC45-090F-4694-9D5D-0B1E4B5B7E4E}" dt="2026-09-09T16:39:48.633" v="151" actId="20577"/>
          <ac:spMkLst>
            <pc:docMk/>
            <pc:sldMk cId="3916788613" sldId="296"/>
            <ac:spMk id="9" creationId="{5DBCE864-823D-4A13-9607-5DA1F0ED5FB8}"/>
          </ac:spMkLst>
        </pc:spChg>
        <pc:spChg chg="mod">
          <ac:chgData name="Shashi Ranjan Kumar" userId="269663f3b694999c" providerId="LiveId" clId="{34BABC45-090F-4694-9D5D-0B1E4B5B7E4E}" dt="2026-09-09T16:41:54.768" v="195" actId="20577"/>
          <ac:spMkLst>
            <pc:docMk/>
            <pc:sldMk cId="3916788613" sldId="296"/>
            <ac:spMk id="126" creationId="{00000000-0000-0000-0000-000000000000}"/>
          </ac:spMkLst>
        </pc:spChg>
        <pc:spChg chg="mod">
          <ac:chgData name="Shashi Ranjan Kumar" userId="269663f3b694999c" providerId="LiveId" clId="{34BABC45-090F-4694-9D5D-0B1E4B5B7E4E}" dt="2026-09-09T16:42:30.894" v="213" actId="20577"/>
          <ac:spMkLst>
            <pc:docMk/>
            <pc:sldMk cId="3916788613" sldId="296"/>
            <ac:spMk id="1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TitleDetails"/>
          <p:cNvSpPr/>
          <p:nvPr/>
        </p:nvSpPr>
        <p:spPr>
          <a:xfrm>
            <a:off x="331286" y="2150000"/>
            <a:ext cx="592455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85750" indent="-228600" algn="l">
              <a:lnSpc>
                <a:spcPct val="100000"/>
              </a:lnSpc>
              <a:spcAft>
                <a:spcPts val="52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cs typeface="Arial" pitchFamily="34" charset="0"/>
              </a:rPr>
              <a:t>Problem Statement ID – SIH26090</a:t>
            </a:r>
          </a:p>
          <a:p>
            <a:pPr marL="285750" indent="-228600" algn="l">
              <a:lnSpc>
                <a:spcPct val="100000"/>
              </a:lnSpc>
              <a:spcAft>
                <a:spcPts val="52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cs typeface="Arial" pitchFamily="34" charset="0"/>
              </a:rPr>
              <a:t>Problem Statement Title – AI-based market linkage for marginalized artisans</a:t>
            </a:r>
          </a:p>
          <a:p>
            <a:pPr marL="285750" indent="-228600" algn="l">
              <a:lnSpc>
                <a:spcPct val="100000"/>
              </a:lnSpc>
              <a:spcAft>
                <a:spcPts val="52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cs typeface="Arial" pitchFamily="34" charset="0"/>
              </a:rPr>
              <a:t>Theme – Social Empowerment / Digital Inclusion</a:t>
            </a:r>
          </a:p>
          <a:p>
            <a:pPr marL="285750" indent="-228600" algn="l">
              <a:lnSpc>
                <a:spcPct val="100000"/>
              </a:lnSpc>
              <a:spcAft>
                <a:spcPts val="52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cs typeface="Arial" pitchFamily="34" charset="0"/>
              </a:rPr>
              <a:t>PS Category – Software</a:t>
            </a:r>
          </a:p>
          <a:p>
            <a:pPr marL="285750" indent="-228600" algn="l">
              <a:lnSpc>
                <a:spcPct val="100000"/>
              </a:lnSpc>
              <a:spcAft>
                <a:spcPts val="52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cs typeface="Arial" pitchFamily="34" charset="0"/>
              </a:rPr>
              <a:t>Team Name – </a:t>
            </a:r>
            <a:r>
              <a:rPr lang="en-US" sz="2400" b="1" dirty="0" err="1">
                <a:solidFill>
                  <a:srgbClr val="1C1C1C"/>
                </a:solidFill>
                <a:latin typeface="Arial" pitchFamily="34" charset="0"/>
                <a:cs typeface="Arial" pitchFamily="34" charset="0"/>
              </a:rPr>
              <a:t>MarketMitra</a:t>
            </a:r>
            <a:endParaRPr lang="en-US" sz="2400" b="1" dirty="0">
              <a:solidFill>
                <a:srgbClr val="1C1C1C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CHHAAP — VOICE-FIRST MARKET LINKAGE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MarketMitra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2" name="Tab"/>
          <p:cNvSpPr/>
          <p:nvPr/>
        </p:nvSpPr>
        <p:spPr>
          <a:xfrm>
            <a:off x="486000" y="1560000"/>
            <a:ext cx="3327600" cy="560000"/>
          </a:xfrm>
          <a:prstGeom prst="homePlate">
            <a:avLst/>
          </a:prstGeom>
          <a:solidFill>
            <a:srgbClr val="2E4A7D"/>
          </a:solidFill>
          <a:ln>
            <a:noFill/>
          </a:ln>
        </p:spPr>
        <p:txBody>
          <a:bodyPr wrap="square" lIns="137160" tIns="45720" rIns="228600" bIns="45720" anchor="ctr">
            <a:normAutofit/>
          </a:bodyPr>
          <a:lstStyle/>
          <a:p>
            <a:pPr marL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</p:txBody>
      </p:sp>
      <p:sp>
        <p:nvSpPr>
          <p:cNvPr id="103" name="Shape103"/>
          <p:cNvSpPr/>
          <p:nvPr/>
        </p:nvSpPr>
        <p:spPr>
          <a:xfrm>
            <a:off x="486000" y="2020000"/>
            <a:ext cx="3540000" cy="2780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One photo, one voice note.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The artisan photographs the piece and describes it aloud in their own language.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Clean catalogue image.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Background removal turns a phone snapshot into a sellable product photo.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Listing written for them.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Speech becomes a polished listing, returned in the artisan’s own language.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Fair price, explained.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Market comparables set the price; a cost floor protects materials + labour.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One-tap publish.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Goes live on ONDC, GeM and WhatsApp with a shareable poster and QR code.</a:t>
            </a:r>
          </a:p>
        </p:txBody>
      </p:sp>
      <p:sp>
        <p:nvSpPr>
          <p:cNvPr id="104" name="Tab"/>
          <p:cNvSpPr/>
          <p:nvPr/>
        </p:nvSpPr>
        <p:spPr>
          <a:xfrm>
            <a:off x="4326000" y="1560000"/>
            <a:ext cx="3327600" cy="560000"/>
          </a:xfrm>
          <a:prstGeom prst="homePlate">
            <a:avLst/>
          </a:prstGeom>
          <a:solidFill>
            <a:srgbClr val="2E4A7D"/>
          </a:solidFill>
          <a:ln>
            <a:noFill/>
          </a:ln>
        </p:spPr>
        <p:txBody>
          <a:bodyPr wrap="square" lIns="137160" tIns="45720" rIns="228600" bIns="45720" anchor="ctr">
            <a:normAutofit/>
          </a:bodyPr>
          <a:lstStyle/>
          <a:p>
            <a:pPr marL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HOW IT ADDRESSES THE PROBLEM</a:t>
            </a:r>
          </a:p>
        </p:txBody>
      </p:sp>
      <p:sp>
        <p:nvSpPr>
          <p:cNvPr id="105" name="Shape105"/>
          <p:cNvSpPr/>
          <p:nvPr/>
        </p:nvSpPr>
        <p:spPr>
          <a:xfrm>
            <a:off x="4326000" y="2020000"/>
            <a:ext cx="3540000" cy="2780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No literacy needed.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Every screen speaks. Nothing on the artisan path requires reading or typing.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No English needed.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12 Indian languages, 105 translated strings each, with locale-correct speech.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No photographer needed.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The AI does the studio work from an ordinary phone camera.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No middleman needed.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The artisan reaches national buyers directly and keeps more of the price.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No guesswork on price.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Removes the information gap that lets buyers underpay rural makers.</a:t>
            </a:r>
          </a:p>
        </p:txBody>
      </p:sp>
      <p:sp>
        <p:nvSpPr>
          <p:cNvPr id="106" name="Tab"/>
          <p:cNvSpPr/>
          <p:nvPr/>
        </p:nvSpPr>
        <p:spPr>
          <a:xfrm>
            <a:off x="8166000" y="1560000"/>
            <a:ext cx="3327600" cy="560000"/>
          </a:xfrm>
          <a:prstGeom prst="homePlate">
            <a:avLst/>
          </a:prstGeom>
          <a:solidFill>
            <a:srgbClr val="2E4A7D"/>
          </a:solidFill>
          <a:ln>
            <a:noFill/>
          </a:ln>
        </p:spPr>
        <p:txBody>
          <a:bodyPr wrap="square" lIns="137160" tIns="45720" rIns="228600" bIns="45720" anchor="ctr">
            <a:normAutofit/>
          </a:bodyPr>
          <a:lstStyle/>
          <a:p>
            <a:pPr marL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INNOVATION &amp; UNIQUENESS</a:t>
            </a:r>
          </a:p>
        </p:txBody>
      </p:sp>
      <p:sp>
        <p:nvSpPr>
          <p:cNvPr id="107" name="Shape107"/>
          <p:cNvSpPr/>
          <p:nvPr/>
        </p:nvSpPr>
        <p:spPr>
          <a:xfrm>
            <a:off x="8166000" y="2020000"/>
            <a:ext cx="3540000" cy="2780000"/>
          </a:xfrm>
          <a:prstGeom prst="roundRect">
            <a:avLst>
              <a:gd name="adj" fmla="val 6000"/>
            </a:avLst>
          </a:prstGeom>
          <a:solidFill>
            <a:srgbClr val="F5EFE3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Voice-first, not voice-added.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Built around speech from the first screen, not bolted onto a form.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AI proposes, artisan decides.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The craft classifier suggests; the maker confirms. The model never overrides.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Transparent pricing.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Comparables and cost floor are shown, so the number is never a black box.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Runs on modest hardware.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Full pipeline fits on a single consumer GPU, built for low-resource settings.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Learns from artisans.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Every confirmation is a labelled example, improving the model over time.</a:t>
            </a:r>
          </a:p>
        </p:txBody>
      </p:sp>
      <p:sp>
        <p:nvSpPr>
          <p:cNvPr id="108" name="StatBand"/>
          <p:cNvSpPr/>
          <p:nvPr/>
        </p:nvSpPr>
        <p:spPr>
          <a:xfrm>
            <a:off x="486000" y="5000000"/>
            <a:ext cx="11220000" cy="1060000"/>
          </a:xfrm>
          <a:prstGeom prst="roundRect">
            <a:avLst>
              <a:gd name="adj" fmla="val 7000"/>
            </a:avLst>
          </a:prstGeom>
          <a:solidFill>
            <a:srgbClr val="15243F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0" algn="l">
              <a:lnSpc>
                <a:spcPct val="100000"/>
              </a:lnSpc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tat"/>
          <p:cNvSpPr/>
          <p:nvPr/>
        </p:nvSpPr>
        <p:spPr>
          <a:xfrm>
            <a:off x="486000" y="5180200"/>
            <a:ext cx="2805000" cy="76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12</a:t>
            </a:r>
          </a:p>
          <a:p>
            <a:pPr marL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CFD8E8"/>
                </a:solidFill>
                <a:latin typeface="Arial" pitchFamily="34" charset="0"/>
                <a:cs typeface="Arial" pitchFamily="34" charset="0"/>
              </a:rPr>
              <a:t>Indian languages</a:t>
            </a:r>
          </a:p>
        </p:txBody>
      </p:sp>
      <p:sp>
        <p:nvSpPr>
          <p:cNvPr id="110" name="Stat"/>
          <p:cNvSpPr/>
          <p:nvPr/>
        </p:nvSpPr>
        <p:spPr>
          <a:xfrm>
            <a:off x="3291000" y="5180200"/>
            <a:ext cx="2805000" cy="76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0</a:t>
            </a:r>
          </a:p>
          <a:p>
            <a:pPr marL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CFD8E8"/>
                </a:solidFill>
                <a:latin typeface="Arial" pitchFamily="34" charset="0"/>
                <a:cs typeface="Arial" pitchFamily="34" charset="0"/>
              </a:rPr>
              <a:t>words typed by the artisan</a:t>
            </a:r>
          </a:p>
        </p:txBody>
      </p:sp>
      <p:sp>
        <p:nvSpPr>
          <p:cNvPr id="111" name="Stat"/>
          <p:cNvSpPr/>
          <p:nvPr/>
        </p:nvSpPr>
        <p:spPr>
          <a:xfrm>
            <a:off x="6096000" y="5180200"/>
            <a:ext cx="2805000" cy="76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1</a:t>
            </a:r>
          </a:p>
          <a:p>
            <a:pPr marL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CFD8E8"/>
                </a:solidFill>
                <a:latin typeface="Arial" pitchFamily="34" charset="0"/>
                <a:cs typeface="Arial" pitchFamily="34" charset="0"/>
              </a:rPr>
              <a:t>photo + one voice note</a:t>
            </a:r>
          </a:p>
        </p:txBody>
      </p:sp>
      <p:sp>
        <p:nvSpPr>
          <p:cNvPr id="112" name="Stat"/>
          <p:cNvSpPr/>
          <p:nvPr/>
        </p:nvSpPr>
        <p:spPr>
          <a:xfrm>
            <a:off x="8901000" y="5180200"/>
            <a:ext cx="2805000" cy="76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3</a:t>
            </a:r>
          </a:p>
          <a:p>
            <a:pPr marL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CFD8E8"/>
                </a:solidFill>
                <a:latin typeface="Arial" pitchFamily="34" charset="0"/>
                <a:cs typeface="Arial" pitchFamily="34" charset="0"/>
              </a:rPr>
              <a:t>channels reached in one tap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MarketMitra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13" name="Archite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00" y="1380000"/>
            <a:ext cx="4441520" cy="4720000"/>
          </a:xfrm>
          <a:prstGeom prst="rect">
            <a:avLst/>
          </a:prstGeom>
        </p:spPr>
      </p:pic>
      <p:sp>
        <p:nvSpPr>
          <p:cNvPr id="114" name="Shape114"/>
          <p:cNvSpPr/>
          <p:nvPr/>
        </p:nvSpPr>
        <p:spPr>
          <a:xfrm>
            <a:off x="5421520" y="1380000"/>
            <a:ext cx="6210480" cy="25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5243F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marL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ARCHITECTURE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Frontend: </a:t>
            </a:r>
            <a:r>
              <a:rPr lang="en-US" sz="100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React Native (Expo) camera, on-device recording, TTS, 12-language UI.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Backend: </a:t>
            </a:r>
            <a:r>
              <a:rPr lang="en-US" sz="100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Python + FastAPI, containerised with Docker; PostgreSQL for persistence.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Inference: </a:t>
            </a:r>
            <a:r>
              <a:rPr lang="en-US" sz="100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All four models run GPU-accelerated on a single consumer card.</a:t>
            </a:r>
          </a:p>
          <a:p>
            <a:pPr marL="0" algn="l">
              <a:lnSpc>
                <a:spcPct val="100000"/>
              </a:lnSpc>
              <a:spcAft>
                <a:spcPts val="0"/>
              </a:spcAft>
              <a:buNone/>
            </a:pPr>
            <a:endParaRPr lang="en-US" sz="1000" dirty="0">
              <a:solidFill>
                <a:srgbClr val="3A3A3A"/>
              </a:solidFill>
              <a:latin typeface="Arial" pitchFamily="34" charset="0"/>
              <a:cs typeface="Arial" pitchFamily="34" charset="0"/>
            </a:endParaRPr>
          </a:p>
          <a:p>
            <a:pPr marL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KEY COMPONENTS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SigLIP: </a:t>
            </a:r>
            <a:r>
              <a:rPr lang="en-US" sz="100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embeds the photo to identify the craft and find price comparables.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rembg: </a:t>
            </a:r>
            <a:r>
              <a:rPr lang="en-US" sz="100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removes the background into a clean catalogue image.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Whisper: </a:t>
            </a:r>
            <a:r>
              <a:rPr lang="en-US" sz="100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transcribes the artisan’s spoken description in their language.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Claude: </a:t>
            </a:r>
            <a:r>
              <a:rPr lang="en-US" sz="100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turns the transcript into a listing in that same language.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Pricing engine: </a:t>
            </a:r>
            <a:r>
              <a:rPr lang="en-US" sz="100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similarity match plus a transparent materials + labour floor.</a:t>
            </a:r>
          </a:p>
        </p:txBody>
      </p:sp>
      <p:sp>
        <p:nvSpPr>
          <p:cNvPr id="115" name="Shape115"/>
          <p:cNvSpPr/>
          <p:nvPr/>
        </p:nvSpPr>
        <p:spPr>
          <a:xfrm>
            <a:off x="5421520" y="4080000"/>
            <a:ext cx="6210480" cy="1450000"/>
          </a:xfrm>
          <a:prstGeom prst="roundRect">
            <a:avLst>
              <a:gd name="adj" fmla="val 8000"/>
            </a:avLst>
          </a:prstGeom>
          <a:solidFill>
            <a:srgbClr val="F5EFE3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1150" b="1" dirty="0">
                <a:solidFill>
                  <a:srgbClr val="B08C4F"/>
                </a:solidFill>
                <a:latin typeface="Arial" pitchFamily="34" charset="0"/>
                <a:cs typeface="Arial" pitchFamily="34" charset="0"/>
              </a:rPr>
              <a:t>TECHNOLOGY STACK</a:t>
            </a:r>
          </a:p>
          <a:p>
            <a:pPr marL="0" algn="ctr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dirty="0">
                <a:solidFill>
                  <a:srgbClr val="1C1C1C"/>
                </a:solidFill>
                <a:latin typeface="Arial" pitchFamily="34" charset="0"/>
                <a:cs typeface="Arial" pitchFamily="34" charset="0"/>
              </a:rPr>
              <a:t>React Native  ·  Expo  ·  Python  ·  FastAPI  ·  Docker  ·  PostgreSQL</a:t>
            </a:r>
          </a:p>
          <a:p>
            <a:pPr marL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1C1C1C"/>
                </a:solidFill>
                <a:latin typeface="Arial" pitchFamily="34" charset="0"/>
                <a:cs typeface="Arial" pitchFamily="34" charset="0"/>
              </a:rPr>
              <a:t>SigLIP  ·  rembg (ONNX)  ·  Whisper  ·  Claude  ·  CUDA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MarketMitra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6" name="Shape116"/>
          <p:cNvSpPr/>
          <p:nvPr/>
        </p:nvSpPr>
        <p:spPr>
          <a:xfrm>
            <a:off x="620000" y="1420000"/>
            <a:ext cx="10952000" cy="1200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220"/>
              </a:spcAft>
              <a:buNone/>
            </a:pPr>
            <a:r>
              <a:rPr lang="en-US" sz="1250" b="1" u="sng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FEASIBILITY OF THE IDEA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Already working.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A prototype runs the full loop today : capture, listing, price, publish (end to end).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Proven parts only.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Built on established open models and existing India-stack rails (ONDC, GeM); no unproven research required.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Cheap to run.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The whole pipeline fits on one consumer GPU, so deployment does not assume cloud budgets.</a:t>
            </a:r>
          </a:p>
        </p:txBody>
      </p:sp>
      <p:sp>
        <p:nvSpPr>
          <p:cNvPr id="117" name="Shape117"/>
          <p:cNvSpPr/>
          <p:nvPr/>
        </p:nvSpPr>
        <p:spPr>
          <a:xfrm>
            <a:off x="620000" y="2830000"/>
            <a:ext cx="10952000" cy="1200000"/>
          </a:xfrm>
          <a:prstGeom prst="roundRect">
            <a:avLst>
              <a:gd name="adj" fmla="val 6000"/>
            </a:avLst>
          </a:prstGeom>
          <a:solidFill>
            <a:srgbClr val="F5EFE3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220"/>
              </a:spcAft>
              <a:buNone/>
            </a:pPr>
            <a:r>
              <a:rPr lang="en-US" sz="1250" b="1" u="sng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Uneven language coverage.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Speech models are weaker for some Indian languages, Odia among them.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Imperfect craft recognition.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A vision model will sometimes read a craft wrongly.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Patchy connectivity and trust.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Rural networks drop, and artisans must trust a price they did not set.</a:t>
            </a:r>
          </a:p>
        </p:txBody>
      </p:sp>
      <p:sp>
        <p:nvSpPr>
          <p:cNvPr id="118" name="Shape118"/>
          <p:cNvSpPr/>
          <p:nvPr/>
        </p:nvSpPr>
        <p:spPr>
          <a:xfrm>
            <a:off x="620000" y="4240000"/>
            <a:ext cx="10952000" cy="1200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220"/>
              </a:spcAft>
              <a:buNone/>
            </a:pPr>
            <a:r>
              <a:rPr lang="en-US" sz="1250" b="1" u="sng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STRATEGIES TO OVERCOME THEM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Bhashini for language gaps.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Route weak languages through the national mission; interface and prompts are already localised.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Human authority by design.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The confirmation screen makes the artisan the final word on their own craft.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Graceful degradation + open pricing. </a:t>
            </a: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Fallbacks at every step, offline capture on the roadmap, and comparables shown so the price is explainable.</a:t>
            </a:r>
          </a:p>
        </p:txBody>
      </p:sp>
      <p:sp>
        <p:nvSpPr>
          <p:cNvPr id="119" name="Shape119"/>
          <p:cNvSpPr/>
          <p:nvPr/>
        </p:nvSpPr>
        <p:spPr>
          <a:xfrm>
            <a:off x="620000" y="5620000"/>
            <a:ext cx="10952000" cy="620000"/>
          </a:xfrm>
          <a:prstGeom prst="roundRect">
            <a:avLst>
              <a:gd name="adj" fmla="val 9000"/>
            </a:avLst>
          </a:prstGeom>
          <a:solidFill>
            <a:srgbClr val="F5EFE3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 b="1" dirty="0">
                <a:solidFill>
                  <a:srgbClr val="B08C4F"/>
                </a:solidFill>
                <a:latin typeface="Arial" pitchFamily="34" charset="0"/>
                <a:cs typeface="Arial" pitchFamily="34" charset="0"/>
              </a:rPr>
              <a:t>STATUS:  </a:t>
            </a:r>
            <a:r>
              <a:rPr lang="en-US" sz="1150" dirty="0">
                <a:solidFill>
                  <a:srgbClr val="1C1C1C"/>
                </a:solidFill>
                <a:latin typeface="Arial" pitchFamily="34" charset="0"/>
                <a:cs typeface="Arial" pitchFamily="34" charset="0"/>
              </a:rPr>
              <a:t>working prototype : photo, voice, listing, price and publish already run end to end on one machine.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MarketMitra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0" name="Shape120"/>
          <p:cNvSpPr/>
          <p:nvPr/>
        </p:nvSpPr>
        <p:spPr>
          <a:xfrm>
            <a:off x="620000" y="1420000"/>
            <a:ext cx="4900000" cy="3120000"/>
          </a:xfrm>
          <a:prstGeom prst="roundRect">
            <a:avLst>
              <a:gd name="adj" fmla="val 5000"/>
            </a:avLst>
          </a:prstGeom>
          <a:solidFill>
            <a:srgbClr val="EDF1F8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320"/>
              </a:spcAft>
              <a:buNone/>
            </a:pPr>
            <a:r>
              <a:rPr lang="en-US" sz="1500" b="1" u="sng" dirty="0">
                <a:solidFill>
                  <a:srgbClr val="B08C4F"/>
                </a:solidFill>
                <a:latin typeface="Arial" pitchFamily="34" charset="0"/>
                <a:cs typeface="Arial" pitchFamily="34" charset="0"/>
              </a:rPr>
              <a:t>IMPACT</a:t>
            </a:r>
          </a:p>
          <a:p>
            <a:pPr marL="0"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6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Income stays with the maker</a:t>
            </a:r>
          </a:p>
          <a:p>
            <a:pPr marL="0" algn="l">
              <a:lnSpc>
                <a:spcPct val="100000"/>
              </a:lnSpc>
              <a:spcAft>
                <a:spcPts val="36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Direct access to national buyers removes the middleman’s cut.</a:t>
            </a:r>
          </a:p>
          <a:p>
            <a:pPr marL="0"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6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Dignity and independence</a:t>
            </a:r>
          </a:p>
          <a:p>
            <a:pPr marL="0" algn="l">
              <a:lnSpc>
                <a:spcPct val="100000"/>
              </a:lnSpc>
              <a:spcAft>
                <a:spcPts val="36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No dependence on a literate intermediary to sell your own work.</a:t>
            </a:r>
          </a:p>
          <a:p>
            <a:pPr marL="0"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6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Digital inclusion that is real</a:t>
            </a:r>
          </a:p>
          <a:p>
            <a:pPr marL="0" algn="l">
              <a:lnSpc>
                <a:spcPct val="100000"/>
              </a:lnSpc>
              <a:spcAft>
                <a:spcPts val="36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Works by voice, in the artisan’s language, on an ordinary phone.</a:t>
            </a:r>
          </a:p>
          <a:p>
            <a:pPr marL="0"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6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Crafts stay alive</a:t>
            </a:r>
          </a:p>
          <a:p>
            <a:pPr marL="0" algn="l">
              <a:lnSpc>
                <a:spcPct val="100000"/>
              </a:lnSpc>
              <a:spcAft>
                <a:spcPts val="36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Traditional forms remain visible and commercially viable.</a:t>
            </a:r>
          </a:p>
        </p:txBody>
      </p:sp>
      <p:sp>
        <p:nvSpPr>
          <p:cNvPr id="121" name="Shape121"/>
          <p:cNvSpPr/>
          <p:nvPr/>
        </p:nvSpPr>
        <p:spPr>
          <a:xfrm>
            <a:off x="5940000" y="1420000"/>
            <a:ext cx="5632000" cy="31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5243F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240"/>
              </a:spcAft>
              <a:buNone/>
            </a:pPr>
            <a:r>
              <a:rPr lang="en-US" sz="14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USER STORY</a:t>
            </a:r>
          </a:p>
          <a:p>
            <a:pPr marL="0" algn="l">
              <a:lnSpc>
                <a:spcPct val="100000"/>
              </a:lnSpc>
              <a:spcAft>
                <a:spcPts val="140"/>
              </a:spcAft>
              <a:buNone/>
            </a:pPr>
            <a:r>
              <a:rPr lang="en-US" sz="1200" b="1" u="sng" dirty="0">
                <a:solidFill>
                  <a:srgbClr val="B08C4F"/>
                </a:solidFill>
                <a:latin typeface="Arial" pitchFamily="34" charset="0"/>
                <a:cs typeface="Arial" pitchFamily="34" charset="0"/>
              </a:rPr>
              <a:t>Scenario</a:t>
            </a:r>
          </a:p>
          <a:p>
            <a:pPr marL="0" algn="l">
              <a:lnSpc>
                <a:spcPct val="100000"/>
              </a:lnSpc>
              <a:spcAft>
                <a:spcPts val="26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A weaver in rural Odisha has never sold online. She cannot read English and has no one to write listings for her. Buyers in the city have never seen her work.</a:t>
            </a:r>
          </a:p>
          <a:p>
            <a:pPr marL="0" algn="l">
              <a:lnSpc>
                <a:spcPct val="100000"/>
              </a:lnSpc>
              <a:spcAft>
                <a:spcPts val="140"/>
              </a:spcAft>
              <a:buNone/>
            </a:pPr>
            <a:r>
              <a:rPr lang="en-US" sz="1200" b="1" u="sng" dirty="0">
                <a:solidFill>
                  <a:srgbClr val="B08C4F"/>
                </a:solidFill>
                <a:latin typeface="Arial" pitchFamily="34" charset="0"/>
                <a:cs typeface="Arial" pitchFamily="34" charset="0"/>
              </a:rPr>
              <a:t>With Chhaap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She speaks.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One photo and a spoken description in her own language.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She is understood.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The craft is recognised; she confirms it herself.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She is paid fairly.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A market-aware price with a floor beneath her materials and hours.</a:t>
            </a:r>
          </a:p>
          <a:p>
            <a:pPr marL="228600" indent="-228600" algn="l">
              <a:lnSpc>
                <a:spcPct val="100000"/>
              </a:lnSpc>
              <a:spcAft>
                <a:spcPts val="40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She reaches the country.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Live on ONDC, GeM and WhatsApp in a single tap.</a:t>
            </a:r>
          </a:p>
        </p:txBody>
      </p:sp>
      <p:sp>
        <p:nvSpPr>
          <p:cNvPr id="122" name="StatBand"/>
          <p:cNvSpPr/>
          <p:nvPr/>
        </p:nvSpPr>
        <p:spPr>
          <a:xfrm>
            <a:off x="620000" y="4780000"/>
            <a:ext cx="10952000" cy="1240000"/>
          </a:xfrm>
          <a:prstGeom prst="roundRect">
            <a:avLst>
              <a:gd name="adj" fmla="val 7000"/>
            </a:avLst>
          </a:prstGeom>
          <a:solidFill>
            <a:srgbClr val="15243F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0" algn="l">
              <a:lnSpc>
                <a:spcPct val="100000"/>
              </a:lnSpc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Stat"/>
          <p:cNvSpPr/>
          <p:nvPr/>
        </p:nvSpPr>
        <p:spPr>
          <a:xfrm>
            <a:off x="620000" y="4990800"/>
            <a:ext cx="3650666" cy="89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7M+</a:t>
            </a:r>
          </a:p>
          <a:p>
            <a:pPr marL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CFD8E8"/>
                </a:solidFill>
                <a:latin typeface="Arial" pitchFamily="34" charset="0"/>
                <a:cs typeface="Arial" pitchFamily="34" charset="0"/>
              </a:rPr>
              <a:t>artisans in India’s craft economy</a:t>
            </a:r>
          </a:p>
        </p:txBody>
      </p:sp>
      <p:sp>
        <p:nvSpPr>
          <p:cNvPr id="124" name="Stat"/>
          <p:cNvSpPr/>
          <p:nvPr/>
        </p:nvSpPr>
        <p:spPr>
          <a:xfrm>
            <a:off x="4270666" y="4990800"/>
            <a:ext cx="3650666" cy="89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12</a:t>
            </a:r>
          </a:p>
          <a:p>
            <a:pPr marL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CFD8E8"/>
                </a:solidFill>
                <a:latin typeface="Arial" pitchFamily="34" charset="0"/>
                <a:cs typeface="Arial" pitchFamily="34" charset="0"/>
              </a:rPr>
              <a:t>languages supported today</a:t>
            </a:r>
          </a:p>
        </p:txBody>
      </p:sp>
      <p:sp>
        <p:nvSpPr>
          <p:cNvPr id="125" name="Stat"/>
          <p:cNvSpPr/>
          <p:nvPr/>
        </p:nvSpPr>
        <p:spPr>
          <a:xfrm>
            <a:off x="7921333" y="4990800"/>
            <a:ext cx="3650666" cy="89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100%</a:t>
            </a:r>
          </a:p>
          <a:p>
            <a:pPr marL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CFD8E8"/>
                </a:solidFill>
                <a:latin typeface="Arial" pitchFamily="34" charset="0"/>
                <a:cs typeface="Arial" pitchFamily="34" charset="0"/>
              </a:rPr>
              <a:t>of the flow usable without reading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MarketMitra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6" name="Shape126"/>
          <p:cNvSpPr/>
          <p:nvPr/>
        </p:nvSpPr>
        <p:spPr>
          <a:xfrm>
            <a:off x="620000" y="1480000"/>
            <a:ext cx="5180000" cy="2420000"/>
          </a:xfrm>
          <a:prstGeom prst="roundRect">
            <a:avLst>
              <a:gd name="adj" fmla="val 5000"/>
            </a:avLst>
          </a:prstGeom>
          <a:solidFill>
            <a:srgbClr val="EDF1F8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 u="sng" dirty="0">
                <a:solidFill>
                  <a:srgbClr val="B08C4F"/>
                </a:solidFill>
                <a:latin typeface="Arial" pitchFamily="34" charset="0"/>
                <a:cs typeface="Arial" pitchFamily="34" charset="0"/>
              </a:rPr>
              <a:t>NATIONAL DIGITAL RAILS</a:t>
            </a:r>
          </a:p>
          <a:p>
            <a:pPr marL="228600" indent="-228600" algn="l">
              <a:lnSpc>
                <a:spcPct val="100000"/>
              </a:lnSpc>
              <a:spcAft>
                <a:spcPts val="38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ONDC —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ondc.org (open network for digital commerce)</a:t>
            </a:r>
          </a:p>
          <a:p>
            <a:pPr marL="228600" indent="-228600" algn="l">
              <a:lnSpc>
                <a:spcPct val="100000"/>
              </a:lnSpc>
              <a:spcAft>
                <a:spcPts val="38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GeM —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gem.gov.in (government e-marketplace)</a:t>
            </a:r>
          </a:p>
          <a:p>
            <a:pPr marL="228600" indent="-228600" algn="l">
              <a:lnSpc>
                <a:spcPct val="100000"/>
              </a:lnSpc>
              <a:spcAft>
                <a:spcPts val="38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Bhashini —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bhashini.gov.in (national language translation mission)</a:t>
            </a:r>
          </a:p>
          <a:p>
            <a:pPr marL="228600" indent="-228600" algn="l">
              <a:lnSpc>
                <a:spcPct val="100000"/>
              </a:lnSpc>
              <a:spcAft>
                <a:spcPts val="38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MoSJE schemes —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socialjustice.gov.in (artisan welfare context)</a:t>
            </a:r>
          </a:p>
        </p:txBody>
      </p:sp>
      <p:sp>
        <p:nvSpPr>
          <p:cNvPr id="127" name="Shape127"/>
          <p:cNvSpPr/>
          <p:nvPr/>
        </p:nvSpPr>
        <p:spPr>
          <a:xfrm>
            <a:off x="6240000" y="1480000"/>
            <a:ext cx="5180000" cy="2420000"/>
          </a:xfrm>
          <a:prstGeom prst="roundRect">
            <a:avLst>
              <a:gd name="adj" fmla="val 5000"/>
            </a:avLst>
          </a:prstGeom>
          <a:solidFill>
            <a:srgbClr val="EDF1F8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 u="sng" dirty="0">
                <a:solidFill>
                  <a:srgbClr val="B08C4F"/>
                </a:solidFill>
                <a:latin typeface="Arial" pitchFamily="34" charset="0"/>
                <a:cs typeface="Arial" pitchFamily="34" charset="0"/>
              </a:rPr>
              <a:t>MODELS AND METHODS</a:t>
            </a:r>
          </a:p>
          <a:p>
            <a:pPr marL="228600" indent="-228600" algn="l">
              <a:lnSpc>
                <a:spcPct val="100000"/>
              </a:lnSpc>
              <a:spcAft>
                <a:spcPts val="38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SigLIP —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Zhai et al., 2023 (sigmoid loss for language-image pre-training)</a:t>
            </a:r>
          </a:p>
          <a:p>
            <a:pPr marL="228600" indent="-228600" algn="l">
              <a:lnSpc>
                <a:spcPct val="100000"/>
              </a:lnSpc>
              <a:spcAft>
                <a:spcPts val="38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Whisper —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Radford et al., 2022 (robust multilingual speech recognition)</a:t>
            </a:r>
          </a:p>
          <a:p>
            <a:pPr marL="228600" indent="-228600" algn="l">
              <a:lnSpc>
                <a:spcPct val="100000"/>
              </a:lnSpc>
              <a:spcAft>
                <a:spcPts val="38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rembg / U²-Net —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Qin et al., 2020 (salient object detection)</a:t>
            </a:r>
          </a:p>
          <a:p>
            <a:pPr marL="228600" indent="-228600" algn="l">
              <a:lnSpc>
                <a:spcPct val="100000"/>
              </a:lnSpc>
              <a:spcAft>
                <a:spcPts val="380"/>
              </a:spcAft>
              <a:buClr>
                <a:srgbClr val="9C3B2E"/>
              </a:buClr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Claude — 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Anthropic (listing generation from transcript)</a:t>
            </a:r>
          </a:p>
        </p:txBody>
      </p:sp>
      <p:sp>
        <p:nvSpPr>
          <p:cNvPr id="128" name="Shape128"/>
          <p:cNvSpPr/>
          <p:nvPr/>
        </p:nvSpPr>
        <p:spPr>
          <a:xfrm>
            <a:off x="620000" y="4180000"/>
            <a:ext cx="10952000" cy="1560000"/>
          </a:xfrm>
          <a:prstGeom prst="roundRect">
            <a:avLst>
              <a:gd name="adj" fmla="val 8000"/>
            </a:avLst>
          </a:prstGeom>
          <a:solidFill>
            <a:srgbClr val="F5EFE3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marL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b="1" dirty="0">
                <a:solidFill>
                  <a:srgbClr val="B08C4F"/>
                </a:solidFill>
                <a:latin typeface="Arial" pitchFamily="34" charset="0"/>
                <a:cs typeface="Arial" pitchFamily="34" charset="0"/>
              </a:rPr>
              <a:t>PROTOTYPE REPOSITORY</a:t>
            </a:r>
          </a:p>
          <a:p>
            <a:pPr marL="0" algn="ctr">
              <a:lnSpc>
                <a:spcPct val="100000"/>
              </a:lnSpc>
              <a:spcAft>
                <a:spcPts val="170"/>
              </a:spcAft>
              <a:buNone/>
            </a:pPr>
            <a:r>
              <a:rPr lang="en-US" sz="1300" b="1" dirty="0">
                <a:solidFill>
                  <a:srgbClr val="15243F"/>
                </a:solidFill>
                <a:latin typeface="Arial" pitchFamily="34" charset="0"/>
                <a:cs typeface="Arial" pitchFamily="34" charset="0"/>
              </a:rPr>
              <a:t>github.com/akshayvr-programmer/SIH-SUBMISSION-Chhaap-App</a:t>
            </a:r>
          </a:p>
          <a:p>
            <a:pPr marL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cs typeface="Arial" pitchFamily="34" charset="0"/>
              </a:rPr>
              <a:t>Working code for the app, backend and ML pipeline — open for review.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7497</TotalTime>
  <Words>1032</Words>
  <Application>Microsoft Office PowerPoint</Application>
  <PresentationFormat>Widescreen</PresentationFormat>
  <Paragraphs>117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CHHAAP — VOICE-FIRST MARKET LINKAGE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Shashi Ranjan Kumar</cp:lastModifiedBy>
  <cp:revision>148</cp:revision>
  <dcterms:created xsi:type="dcterms:W3CDTF">2013-12-12T18:46:50Z</dcterms:created>
  <dcterms:modified xsi:type="dcterms:W3CDTF">2026-09-09T16:43:13Z</dcterms:modified>
  <cp:category/>
</cp:coreProperties>
</file>